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create operating leverage: better control, lower leakage, faster decisions and scalable growth.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4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6BCB"/>
          </a:solidFill>
          <a:ln w="12700">
            <a:solidFill>
              <a:srgbClr val="0B6BC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3796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ZENASTRA INDUSTRIES  •  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0" y="6537960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contact@zenastraindustries.com  •  +91 93308 60396</a:t>
            </a:r>
            <a:endParaRPr lang="en-US" sz="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9DD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ZENASTRA INDUSTRIES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6949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 revenue from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₹10 crore to ₹100 crore.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26974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9DD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avoidable cost from ₹100 to ₹10.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347472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help companies save lakhs to crores by building private AI operating systems for finance, growth and everyday execution.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4800600"/>
            <a:ext cx="5303520" cy="914400"/>
          </a:xfrm>
          <a:prstGeom prst="roundRect">
            <a:avLst>
              <a:gd name="adj" fmla="val 12000"/>
            </a:avLst>
          </a:prstGeom>
          <a:solidFill>
            <a:srgbClr val="0E2B4A"/>
          </a:solidFill>
          <a:ln w="12700">
            <a:solidFill>
              <a:srgbClr val="1B56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501091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One-time setup from ₹20 lakh+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small fraction of the value we help unlock.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40080" y="5989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8F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companies and individuals • NDA-first • local control • continuous guidance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630936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8F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Raghav Agarwal  •  https://in.linkedin.com/in/raghav-agarwal-86854521b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71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AI operating systems. One transformation partner.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94360" y="9601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the highest-value problem. Expand into a company-wide operating layer.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3429000" cy="438912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554480"/>
            <a:ext cx="3429000" cy="128016"/>
          </a:xfrm>
          <a:prstGeom prst="roundRect">
            <a:avLst>
              <a:gd name="adj" fmla="val 85714"/>
            </a:avLst>
          </a:prstGeom>
          <a:solidFill>
            <a:srgbClr val="0B6BCB"/>
          </a:solidFill>
          <a:ln w="12700">
            <a:solidFill>
              <a:srgbClr val="0B6B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938528"/>
            <a:ext cx="365760" cy="365760"/>
          </a:xfrm>
          <a:prstGeom prst="ellipse">
            <a:avLst/>
          </a:prstGeom>
          <a:solidFill>
            <a:srgbClr val="0B6BCB"/>
          </a:solidFill>
          <a:ln w="12700">
            <a:solidFill>
              <a:srgbClr val="0B6B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97510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71600" y="19568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71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ACCOUNTANT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260604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 • GST • filing • analysis • Tally data entry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68680" y="3520440"/>
            <a:ext cx="2834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recurring accounting cost from thousands to lakhs monthly; identify leakage and improve decisions.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52578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6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TALLY SILVER/GOLD + LOCAL COMPUTER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416552" y="1554480"/>
            <a:ext cx="3429000" cy="438912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16552" y="1554480"/>
            <a:ext cx="3429000" cy="128016"/>
          </a:xfrm>
          <a:prstGeom prst="roundRect">
            <a:avLst>
              <a:gd name="adj" fmla="val 85714"/>
            </a:avLst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90872" y="1938528"/>
            <a:ext cx="365760" cy="365760"/>
          </a:xfrm>
          <a:prstGeom prst="ellipse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90872" y="197510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193792" y="19568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71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OPERATING SYSTEM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690872" y="260604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AI • sales • outreach • marketing • dashboards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690872" y="3520440"/>
            <a:ext cx="2834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 workflows, talk to customers on WhatsApp, coordinate teams and report to leadership.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690872" y="52578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AGENTS + VOICE + WHATSAPP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238744" y="1554480"/>
            <a:ext cx="3429000" cy="438912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38744" y="1554480"/>
            <a:ext cx="3429000" cy="128016"/>
          </a:xfrm>
          <a:prstGeom prst="roundRect">
            <a:avLst>
              <a:gd name="adj" fmla="val 85714"/>
            </a:avLst>
          </a:prstGeom>
          <a:solidFill>
            <a:srgbClr val="D48B00"/>
          </a:solidFill>
          <a:ln w="12700">
            <a:solidFill>
              <a:srgbClr val="D48B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513064" y="1938528"/>
            <a:ext cx="365760" cy="365760"/>
          </a:xfrm>
          <a:prstGeom prst="ellipse">
            <a:avLst/>
          </a:prstGeom>
          <a:solidFill>
            <a:srgbClr val="D48B00"/>
          </a:solidFill>
          <a:ln w="12700">
            <a:solidFill>
              <a:srgbClr val="D48B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13064" y="197510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015984" y="19568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71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OPERATING SYSTEM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513064" y="260604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Owner’s AI chief-of-staff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8513064" y="3520440"/>
            <a:ext cx="2834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Hire, manage, follow up, automate Gmail/CRM and turn employee updates into action.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513064" y="52578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8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OWNER CONTROL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71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customers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9875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 brands we have supported across finance, growth and customer reach.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1508760"/>
            <a:ext cx="525780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pic>
        <p:nvPicPr>
          <p:cNvPr id="5" name="Image 0" descr="/Users/satvindarluthra/tally-mcp-financial-os/assets/raster/customer-cotton-jers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764792"/>
            <a:ext cx="4919472" cy="9601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27889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71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Cotton Jersey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971800" y="2788920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review, GST setup and reported savings opportunity.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355080" y="1508760"/>
            <a:ext cx="525780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pic>
        <p:nvPicPr>
          <p:cNvPr id="9" name="Image 1" descr="/Users/satvindarluthra/tally-mcp-financial-os/assets/raster/customer-love-ba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9672" y="1764792"/>
            <a:ext cx="4919472" cy="9601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583680" y="27889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71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Love Band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8595360" y="2788920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customer reach and marketing growth support.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731520" y="3657600"/>
            <a:ext cx="525780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pic>
        <p:nvPicPr>
          <p:cNvPr id="13" name="Image 2" descr="/Users/satvindarluthra/tally-mcp-financial-os/assets/raster/labels-preeti-anan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3913632"/>
            <a:ext cx="4919472" cy="9601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60120" y="493776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71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Labels by Preeti Anand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2971800" y="4937760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 growth and international customer reach.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6355080" y="3657600"/>
            <a:ext cx="525780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pic>
        <p:nvPicPr>
          <p:cNvPr id="17" name="Image 3" descr="/Users/satvindarluthra/tally-mcp-financial-os/assets/raster/customer-ikris-pharm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9672" y="3913632"/>
            <a:ext cx="4919472" cy="9601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583680" y="493776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71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Ikris Pharma Network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8595360" y="4937760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cost reduction and global outreach support.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71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 1 — AI Accountant.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9784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private finance intelligence layer connected to your local Tally data.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94360" y="1508760"/>
            <a:ext cx="5303520" cy="4434840"/>
          </a:xfrm>
          <a:prstGeom prst="roundRect">
            <a:avLst>
              <a:gd name="adj" fmla="val 2474"/>
            </a:avLst>
          </a:prstGeom>
          <a:solidFill>
            <a:srgbClr val="071B35"/>
          </a:solidFill>
          <a:ln w="12700">
            <a:solidFill>
              <a:srgbClr val="071B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1051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9DD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2286000"/>
            <a:ext cx="365760" cy="365760"/>
          </a:xfrm>
          <a:prstGeom prst="ellipse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32257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44752" y="233172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major financial reports and analysis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2880360"/>
            <a:ext cx="365760" cy="365760"/>
          </a:xfrm>
          <a:prstGeom prst="ellipse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91693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444752" y="292608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Receivables, payables, inventory and cash visibility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3474720"/>
            <a:ext cx="365760" cy="365760"/>
          </a:xfrm>
          <a:prstGeom prst="ellipse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51129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444752" y="35204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GST filing support, checks and structured data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4400" y="4069080"/>
            <a:ext cx="365760" cy="365760"/>
          </a:xfrm>
          <a:prstGeom prst="ellipse">
            <a:avLst/>
          </a:prstGeom>
          <a:solidFill>
            <a:srgbClr val="D48B00"/>
          </a:solidFill>
          <a:ln w="12700">
            <a:solidFill>
              <a:srgbClr val="D48B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10565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444752" y="411480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 understanding → matching → draft → approval → Tally entry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4400" y="4663440"/>
            <a:ext cx="365760" cy="365760"/>
          </a:xfrm>
          <a:prstGeom prst="ellipse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70001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444752" y="470916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 from your phone, using your own local data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14400" y="53492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D8F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replace repetitive manual work, catch leakage earlier and create a path from ₹10 crore to ₹100 crore.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46520" y="16459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6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NEED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46520" y="1965960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TallyPrime Silver or Gold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Your local computer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Your company’s authorised approval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 provider credits paid directly by you, where applicable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446520" y="342900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data stays under your control. The system profiles the open company’s ledgers, groups, voucher types and items before writing.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6446520" y="4892040"/>
            <a:ext cx="4754880" cy="777240"/>
          </a:xfrm>
          <a:prstGeom prst="roundRect">
            <a:avLst>
              <a:gd name="adj" fmla="val 14118"/>
            </a:avLst>
          </a:prstGeom>
          <a:solidFill>
            <a:srgbClr val="D8F7ED"/>
          </a:solidFill>
          <a:ln w="12700">
            <a:solidFill>
              <a:srgbClr val="D8F7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20840" y="50749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A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Potential opportunity: lakhs to crores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00A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cost reduction and better control.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71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 2 &amp; 3 — automate the company and the owner.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94360" y="1417320"/>
            <a:ext cx="516636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417320"/>
            <a:ext cx="5166360" cy="128016"/>
          </a:xfrm>
          <a:prstGeom prst="roundRect">
            <a:avLst>
              <a:gd name="adj" fmla="val 85714"/>
            </a:avLst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830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71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OPERATING SYSTEM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914400" y="2423160"/>
            <a:ext cx="365760" cy="365760"/>
          </a:xfrm>
          <a:prstGeom prst="ellipse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45973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35608" y="245059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AI that talks to teams and leadership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2990088"/>
            <a:ext cx="365760" cy="365760"/>
          </a:xfrm>
          <a:prstGeom prst="ellipse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02666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435608" y="301752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Sales, outreach and social marketing agents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3557016"/>
            <a:ext cx="365760" cy="365760"/>
          </a:xfrm>
          <a:prstGeom prst="ellipse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59359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435608" y="358444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automation for customer conversations 24/7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4400" y="4123944"/>
            <a:ext cx="365760" cy="365760"/>
          </a:xfrm>
          <a:prstGeom prst="ellipse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1605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435608" y="415137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Gmail, CRM, dashboards and employee updates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4400" y="4690872"/>
            <a:ext cx="365760" cy="365760"/>
          </a:xfrm>
          <a:prstGeom prst="ellipse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72744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435608" y="471830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automation across the organisation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14400" y="5257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A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 the work. Keep the company moving.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217920" y="1417320"/>
            <a:ext cx="516636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17920" y="1417320"/>
            <a:ext cx="5166360" cy="128016"/>
          </a:xfrm>
          <a:prstGeom prst="roundRect">
            <a:avLst>
              <a:gd name="adj" fmla="val 85714"/>
            </a:avLst>
          </a:prstGeom>
          <a:solidFill>
            <a:srgbClr val="0B6BCB"/>
          </a:solidFill>
          <a:ln w="12700">
            <a:solidFill>
              <a:srgbClr val="0B6BC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37960" y="17830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71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OPERATING SYSTEM</a:t>
            </a:r>
            <a:endParaRPr lang="en-US" sz="1900" dirty="0"/>
          </a:p>
        </p:txBody>
      </p:sp>
      <p:sp>
        <p:nvSpPr>
          <p:cNvPr id="25" name="Shape 23"/>
          <p:cNvSpPr/>
          <p:nvPr/>
        </p:nvSpPr>
        <p:spPr>
          <a:xfrm>
            <a:off x="6537960" y="2423160"/>
            <a:ext cx="365760" cy="365760"/>
          </a:xfrm>
          <a:prstGeom prst="ellipse">
            <a:avLst/>
          </a:prstGeom>
          <a:solidFill>
            <a:srgbClr val="0B6BCB"/>
          </a:solidFill>
          <a:ln w="12700">
            <a:solidFill>
              <a:srgbClr val="0B6BC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37960" y="245973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059168" y="245059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Owner’s AI chief-of-staff on phone or computer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537960" y="2990088"/>
            <a:ext cx="365760" cy="365760"/>
          </a:xfrm>
          <a:prstGeom prst="ellipse">
            <a:avLst/>
          </a:prstGeom>
          <a:solidFill>
            <a:srgbClr val="0B6BCB"/>
          </a:solidFill>
          <a:ln w="12700">
            <a:solidFill>
              <a:srgbClr val="0B6BC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37960" y="302666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059168" y="301752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Hiring support for HR, sales and management roles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537960" y="3557016"/>
            <a:ext cx="365760" cy="365760"/>
          </a:xfrm>
          <a:prstGeom prst="ellipse">
            <a:avLst/>
          </a:prstGeom>
          <a:solidFill>
            <a:srgbClr val="0B6BCB"/>
          </a:solidFill>
          <a:ln w="12700">
            <a:solidFill>
              <a:srgbClr val="0B6BC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37960" y="359359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059168" y="358444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Follow-ups, reminders, meeting and task execution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537960" y="4123944"/>
            <a:ext cx="365760" cy="365760"/>
          </a:xfrm>
          <a:prstGeom prst="ellipse">
            <a:avLst/>
          </a:prstGeom>
          <a:solidFill>
            <a:srgbClr val="0B6BCB"/>
          </a:solidFill>
          <a:ln w="12700">
            <a:solidFill>
              <a:srgbClr val="0B6BC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37960" y="41605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059168" y="415137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operating dashboard for what is and is not getting done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537960" y="4690872"/>
            <a:ext cx="365760" cy="365760"/>
          </a:xfrm>
          <a:prstGeom prst="ellipse">
            <a:avLst/>
          </a:prstGeom>
          <a:solidFill>
            <a:srgbClr val="0B6BCB"/>
          </a:solidFill>
          <a:ln w="12700">
            <a:solidFill>
              <a:srgbClr val="0B6BC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37960" y="472744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059168" y="471830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scattered information into decisions and action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537960" y="5257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6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the owner leverage without adding headcount.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71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Perks, protection and the implementation promise.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94360" y="1234440"/>
            <a:ext cx="5486400" cy="48006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554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6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GET FOR ₹20 LAKH+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14400" y="2011680"/>
            <a:ext cx="365760" cy="365760"/>
          </a:xfrm>
          <a:prstGeom prst="ellipse">
            <a:avLst/>
          </a:prstGeom>
          <a:solidFill>
            <a:srgbClr val="D48B00"/>
          </a:solidFill>
          <a:ln w="12700">
            <a:solidFill>
              <a:srgbClr val="D48B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04825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435608" y="2039112"/>
            <a:ext cx="4251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One-time implementation, not a permanent Zenastra software fee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2450592"/>
            <a:ext cx="365760" cy="365760"/>
          </a:xfrm>
          <a:prstGeom prst="ellipse">
            <a:avLst/>
          </a:prstGeom>
          <a:solidFill>
            <a:srgbClr val="0B6BCB"/>
          </a:solidFill>
          <a:ln w="12700">
            <a:solidFill>
              <a:srgbClr val="0B6B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48716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435608" y="2478024"/>
            <a:ext cx="4251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NDA and business agreement before work begins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14400" y="2889504"/>
            <a:ext cx="365760" cy="365760"/>
          </a:xfrm>
          <a:prstGeom prst="ellipse">
            <a:avLst/>
          </a:prstGeom>
          <a:solidFill>
            <a:srgbClr val="0B6BCB"/>
          </a:solidFill>
          <a:ln w="12700">
            <a:solidFill>
              <a:srgbClr val="0B6BC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9260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435608" y="2916936"/>
            <a:ext cx="4251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Accountant proof-of-value demonstration first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14400" y="3328416"/>
            <a:ext cx="365760" cy="365760"/>
          </a:xfrm>
          <a:prstGeom prst="ellipse">
            <a:avLst/>
          </a:prstGeom>
          <a:solidFill>
            <a:srgbClr val="0B6BCB"/>
          </a:solidFill>
          <a:ln w="12700">
            <a:solidFill>
              <a:srgbClr val="0B6BC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36499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435608" y="3355848"/>
            <a:ext cx="4251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local-host deployment and owner control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14400" y="3767328"/>
            <a:ext cx="365760" cy="365760"/>
          </a:xfrm>
          <a:prstGeom prst="ellipse">
            <a:avLst/>
          </a:prstGeom>
          <a:solidFill>
            <a:srgbClr val="0B6BCB"/>
          </a:solidFill>
          <a:ln w="12700">
            <a:solidFill>
              <a:srgbClr val="0B6BC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80390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435608" y="3794760"/>
            <a:ext cx="4251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 training and rollout guidance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14400" y="4206240"/>
            <a:ext cx="365760" cy="365760"/>
          </a:xfrm>
          <a:prstGeom prst="ellipse">
            <a:avLst/>
          </a:prstGeom>
          <a:solidFill>
            <a:srgbClr val="0B6BCB"/>
          </a:solidFill>
          <a:ln w="12700">
            <a:solidFill>
              <a:srgbClr val="0B6BC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24281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435608" y="4233672"/>
            <a:ext cx="4251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WhatsApp, reporting and workflow automation roadmap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14400" y="4645152"/>
            <a:ext cx="365760" cy="365760"/>
          </a:xfrm>
          <a:prstGeom prst="ellipse">
            <a:avLst/>
          </a:prstGeom>
          <a:solidFill>
            <a:srgbClr val="0B6BCB"/>
          </a:solidFill>
          <a:ln w="12700">
            <a:solidFill>
              <a:srgbClr val="0B6BC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468172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435608" y="4672584"/>
            <a:ext cx="4251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Ongoing support and help when you need it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914400" y="5084064"/>
            <a:ext cx="365760" cy="365760"/>
          </a:xfrm>
          <a:prstGeom prst="ellipse">
            <a:avLst/>
          </a:prstGeom>
          <a:solidFill>
            <a:srgbClr val="0B6BCB"/>
          </a:solidFill>
          <a:ln w="12700">
            <a:solidFill>
              <a:srgbClr val="0B6BC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512064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435608" y="5111496"/>
            <a:ext cx="4251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provider credit costs paid directly by your company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446520" y="1234440"/>
            <a:ext cx="5074920" cy="4800600"/>
          </a:xfrm>
          <a:prstGeom prst="roundRect">
            <a:avLst>
              <a:gd name="adj" fmla="val 2286"/>
            </a:avLst>
          </a:prstGeom>
          <a:solidFill>
            <a:srgbClr val="071B35"/>
          </a:solidFill>
          <a:ln w="12700">
            <a:solidFill>
              <a:srgbClr val="071B3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66560" y="1554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9DD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START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766560" y="2057400"/>
            <a:ext cx="365760" cy="365760"/>
          </a:xfrm>
          <a:prstGeom prst="ellipse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66560" y="209397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296912" y="20848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NDA + agreement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6766560" y="2697480"/>
            <a:ext cx="365760" cy="365760"/>
          </a:xfrm>
          <a:prstGeom prst="ellipse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66560" y="273405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296912" y="27249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the Accountant Agent and results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6766560" y="3337560"/>
            <a:ext cx="365760" cy="365760"/>
          </a:xfrm>
          <a:prstGeom prst="ellipse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66560" y="337413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296912" y="33649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opportunity and scope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6766560" y="3977640"/>
            <a:ext cx="365760" cy="365760"/>
          </a:xfrm>
          <a:prstGeom prst="ellipse">
            <a:avLst/>
          </a:prstGeom>
          <a:solidFill>
            <a:srgbClr val="D48B00"/>
          </a:solidFill>
          <a:ln w="12700">
            <a:solidFill>
              <a:srgbClr val="D48B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766560" y="401421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296912" y="4005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 implementation payment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6766560" y="4617720"/>
            <a:ext cx="365760" cy="365760"/>
          </a:xfrm>
          <a:prstGeom prst="ellipse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766560" y="465429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296912" y="46451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Install, configure, train and support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6766560" y="544068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D8F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charge a fraction of the value we aim to create—not the value of your problem.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71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Trust, verification and evidence.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9418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confidential conversations with founders, CFOs and leadership teams.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530352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373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B6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CERTIFICATIONS &amp; REGISTRATION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3317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057400" y="23317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U62090WB2025PTC280868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99008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GSTIN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057400" y="299008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19AACCZ6798B1ZT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364845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DPIIT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057400" y="364845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DIPP213909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430682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057400" y="430682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DPDP-aligned local-control approach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525780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will provide supporting certificates and verification documents during the NDA and diligence process.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17920" y="1417320"/>
            <a:ext cx="5303520" cy="4480560"/>
          </a:xfrm>
          <a:prstGeom prst="roundRect">
            <a:avLst>
              <a:gd name="adj" fmla="val 2449"/>
            </a:avLst>
          </a:prstGeom>
          <a:solidFill>
            <a:srgbClr val="071B35"/>
          </a:solidFill>
          <a:ln w="12700">
            <a:solidFill>
              <a:srgbClr val="071B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37960" y="17373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9DD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CLIENT OUTCOMES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37960" y="224028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Cotton Jersey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review, GST setup and a reported savings opportunity of approximately ₹80 lakh.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37960" y="3246120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Love Band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customer reach and marketing growth support.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537960" y="411480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Labels by Preeti Anand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 growth from approximately 200 to 1,000+ followers and customers in the USA and Canada.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37960" y="5120640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D8F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Ikris Pharma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D8F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cost reduction and global customer outreach support.</a:t>
            </a:r>
            <a:endParaRPr lang="en-US" sz="1500" dirty="0"/>
          </a:p>
        </p:txBody>
      </p:sp>
      <p:pic>
        <p:nvPicPr>
          <p:cNvPr id="21" name="Image 0" descr="/Users/satvindarluthra/tally-mcp-financial-os/.hermes/desktop-attachments/1000308352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5532120"/>
            <a:ext cx="566928" cy="566928"/>
          </a:xfrm>
          <a:prstGeom prst="rect">
            <a:avLst/>
          </a:prstGeom>
        </p:spPr>
      </p:pic>
      <p:pic>
        <p:nvPicPr>
          <p:cNvPr id="22" name="Image 1" descr="/Users/satvindarluthra/tally-mcp-financial-os/.hermes/desktop-attachments/1000308353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596128"/>
            <a:ext cx="868680" cy="502920"/>
          </a:xfrm>
          <a:prstGeom prst="rect">
            <a:avLst/>
          </a:prstGeom>
        </p:spPr>
      </p:pic>
      <p:pic>
        <p:nvPicPr>
          <p:cNvPr id="23" name="Image 2" descr="/Users/satvindarluthra/tally-mcp-financial-os/.hermes/desktop-attachments/100030835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0" y="5715000"/>
            <a:ext cx="1280160" cy="34747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94360" y="61447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0A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discuss your first measurable opportunity.</a:t>
            </a:r>
            <a:endParaRPr lang="en-US" sz="1700" dirty="0"/>
          </a:p>
        </p:txBody>
      </p:sp>
      <p:sp>
        <p:nvSpPr>
          <p:cNvPr id="25" name="Text 20"/>
          <p:cNvSpPr/>
          <p:nvPr/>
        </p:nvSpPr>
        <p:spPr>
          <a:xfrm>
            <a:off x="6537960" y="60807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71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Raghav Agarwal  •  https://in.linkedin.com/in/raghav-agarwal-86854521b</a:t>
            </a:r>
            <a:endParaRPr lang="en-US" sz="900" dirty="0"/>
          </a:p>
          <a:p>
            <a:pPr algn="r" indent="0" marL="0">
              <a:buNone/>
            </a:pPr>
            <a:r>
              <a:rPr lang="en-US" sz="900" b="1" dirty="0">
                <a:solidFill>
                  <a:srgbClr val="071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contact@zenastraindustries.com  •  raghav22062003ss@gmail.com</a:t>
            </a:r>
            <a:endParaRPr lang="en-US" sz="900" dirty="0"/>
          </a:p>
          <a:p>
            <a:pPr algn="r" indent="0" marL="0">
              <a:buNone/>
            </a:pPr>
            <a:r>
              <a:rPr lang="en-US" sz="900" b="1" dirty="0">
                <a:solidFill>
                  <a:srgbClr val="071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zenastraindustries.com  •  WhatsApp: +91 93308 60396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Zenastra Industries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Zenastra Industries — AI Operating Systems</dc:title>
  <dc:subject>Confidential enterprise proposal</dc:subject>
  <dc:creator>Zenastra Industries</dc:creator>
  <cp:lastModifiedBy>Zenastra Industries</cp:lastModifiedBy>
  <cp:revision>1</cp:revision>
  <dcterms:created xsi:type="dcterms:W3CDTF">2026-07-31T17:48:55Z</dcterms:created>
  <dcterms:modified xsi:type="dcterms:W3CDTF">2026-07-31T17:48:55Z</dcterms:modified>
</cp:coreProperties>
</file>